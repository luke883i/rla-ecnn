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A4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38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Luke883i/ROA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4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0" descr="/mnt/data/icon_aosp.png">
            <a:extLst>
              <a:ext uri="{FF2B5EF4-FFF2-40B4-BE49-F238E27FC236}">
                <a16:creationId xmlns:a16="http://schemas.microsoft.com/office/drawing/2014/main" id="{47435A41-7FF6-518C-82E7-CFD7962CAF6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2500" t="9400" r="46464" b="32312"/>
          <a:stretch>
            <a:fillRect/>
          </a:stretch>
        </p:blipFill>
        <p:spPr>
          <a:xfrm>
            <a:off x="6276184" y="128016"/>
            <a:ext cx="5955087" cy="680145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D6A4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87232" y="1808181"/>
            <a:ext cx="89356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Ledger of Meaning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566928" y="3006045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D6A43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From every output as a map toward a system of record for </a:t>
            </a:r>
          </a:p>
          <a:p>
            <a:pPr marL="0" indent="0">
              <a:buNone/>
            </a:pPr>
            <a:r>
              <a:rPr lang="en-US" sz="2300" b="1" dirty="0">
                <a:solidFill>
                  <a:srgbClr val="D6A43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AI-assisted knowledge</a:t>
            </a:r>
          </a:p>
        </p:txBody>
      </p:sp>
      <p:sp>
        <p:nvSpPr>
          <p:cNvPr id="5" name="Shape 3"/>
          <p:cNvSpPr/>
          <p:nvPr/>
        </p:nvSpPr>
        <p:spPr>
          <a:xfrm>
            <a:off x="7360920" y="868680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21385C"/>
          </a:solidFill>
          <a:ln w="12700">
            <a:solidFill>
              <a:srgbClr val="33507C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6" name="Text 4"/>
          <p:cNvSpPr/>
          <p:nvPr/>
        </p:nvSpPr>
        <p:spPr>
          <a:xfrm>
            <a:off x="7360920" y="8686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EBC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claim_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13648" y="86868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A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942832" y="868680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21385C"/>
          </a:solidFill>
          <a:ln w="12700">
            <a:solidFill>
              <a:srgbClr val="33507C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9" name="Text 7"/>
          <p:cNvSpPr/>
          <p:nvPr/>
        </p:nvSpPr>
        <p:spPr>
          <a:xfrm>
            <a:off x="8942832" y="86868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EBC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receipt_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921240" y="86868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A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241280" y="86868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21385C"/>
          </a:solidFill>
          <a:ln w="12700">
            <a:solidFill>
              <a:srgbClr val="33507C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2" name="Text 10"/>
          <p:cNvSpPr/>
          <p:nvPr/>
        </p:nvSpPr>
        <p:spPr>
          <a:xfrm>
            <a:off x="10241280" y="8686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EBC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ledger_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" y="5499847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2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entrypoint for any reader · vision → mechanism → witness · AS-IS · HARDENING · TARGET · gated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66928" y="647395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2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A-OSP · The Ledger of Meaning · posture: main@e492290b · June 2026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4117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2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43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1C1085-C40A-EBD5-D6B5-E42037DD3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2B40CA4-A7FC-2241-83E7-7945B419D527}"/>
              </a:ext>
            </a:extLst>
          </p:cNvPr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D6A4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0DA2083-528E-3C5D-7B53-46A7659F6B6E}"/>
              </a:ext>
            </a:extLst>
          </p:cNvPr>
          <p:cNvSpPr/>
          <p:nvPr/>
        </p:nvSpPr>
        <p:spPr>
          <a:xfrm>
            <a:off x="851647" y="134215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6A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output is abundant. Proof is scarce.</a:t>
            </a:r>
            <a:endParaRPr lang="en-US" sz="2800" b="1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CF61CD4-F8CF-71DF-FB93-EA0DDF243BC8}"/>
              </a:ext>
            </a:extLst>
          </p:cNvPr>
          <p:cNvSpPr/>
          <p:nvPr/>
        </p:nvSpPr>
        <p:spPr>
          <a:xfrm>
            <a:off x="851647" y="5083873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work is turned into a balanced, portable record: every claim booked against its source, scope, receipt and gap. 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seam is real; the ledger is the gated vision.</a:t>
            </a:r>
            <a:endParaRPr lang="en-US" sz="16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78D186C9-ED3D-A50A-2B2E-C064E3C6E608}"/>
              </a:ext>
            </a:extLst>
          </p:cNvPr>
          <p:cNvSpPr/>
          <p:nvPr/>
        </p:nvSpPr>
        <p:spPr>
          <a:xfrm>
            <a:off x="566928" y="647395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2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A-OSP · The Ledger of Meaning · posture: main@e492290b · June 2026</a:t>
            </a:r>
            <a:endParaRPr lang="en-US" sz="8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BC171FA0-33E5-11B0-115B-A60FEB3446D1}"/>
              </a:ext>
            </a:extLst>
          </p:cNvPr>
          <p:cNvSpPr/>
          <p:nvPr/>
        </p:nvSpPr>
        <p:spPr>
          <a:xfrm>
            <a:off x="114117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2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3" name="Text 24">
            <a:extLst>
              <a:ext uri="{FF2B5EF4-FFF2-40B4-BE49-F238E27FC236}">
                <a16:creationId xmlns:a16="http://schemas.microsoft.com/office/drawing/2014/main" id="{424EC9B9-3AC8-8444-DEC9-5A79D61E4E37}"/>
              </a:ext>
            </a:extLst>
          </p:cNvPr>
          <p:cNvSpPr/>
          <p:nvPr/>
        </p:nvSpPr>
        <p:spPr>
          <a:xfrm>
            <a:off x="851647" y="2344752"/>
            <a:ext cx="10205236" cy="149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A-OSP is not a better answer generator. </a:t>
            </a:r>
          </a:p>
          <a:p>
            <a:pPr>
              <a:lnSpc>
                <a:spcPct val="110000"/>
              </a:lnSpc>
            </a:pPr>
            <a:r>
              <a:rPr lang="en-US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proof machine around AI work.</a:t>
            </a:r>
          </a:p>
          <a:p>
            <a:pPr>
              <a:lnSpc>
                <a:spcPct val="110000"/>
              </a:lnSpc>
            </a:pPr>
            <a:r>
              <a:rPr lang="en-US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doesn't open the blackbox.</a:t>
            </a:r>
          </a:p>
          <a:p>
            <a:pPr>
              <a:lnSpc>
                <a:spcPct val="110000"/>
              </a:lnSpc>
            </a:pPr>
            <a:endParaRPr lang="en-US" dirty="0">
              <a:solidFill>
                <a:srgbClr val="AEBCC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10000"/>
              </a:lnSpc>
            </a:pPr>
            <a:r>
              <a:rPr lang="en-US" sz="2800" b="1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A-OSP moves the trust boundary outside the model.</a:t>
            </a:r>
          </a:p>
        </p:txBody>
      </p:sp>
    </p:spTree>
    <p:extLst>
      <p:ext uri="{BB962C8B-B14F-4D97-AF65-F5344CB8AC3E}">
        <p14:creationId xmlns:p14="http://schemas.microsoft.com/office/powerpoint/2010/main" val="4278539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324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READER CONTRACT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16952" y="3657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50" dirty="0">
                <a:solidFill>
                  <a:srgbClr val="82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HERE — ANY READER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7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entrypoint, not the proof.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8932" y="121615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terms: A-OSP keeps the receipt for what AI says. Whatever your role — investor, engineer, counsel, researcher — start here, then follow your path at the close. Meaning is not metaphysical truth: it is the institutional proof state of a claim.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1868245"/>
            <a:ext cx="5440680" cy="2651760"/>
          </a:xfrm>
          <a:prstGeom prst="roundRect">
            <a:avLst>
              <a:gd name="adj" fmla="val 2069"/>
            </a:avLst>
          </a:prstGeom>
          <a:solidFill>
            <a:srgbClr val="1E3354"/>
          </a:solidFill>
          <a:ln w="9525">
            <a:solidFill>
              <a:srgbClr val="33507C"/>
            </a:solidFill>
            <a:prstDash val="solid"/>
          </a:ln>
          <a:effectLst>
            <a:outerShdw blurRad="101600" dist="25400" dir="5400000" algn="bl" rotWithShape="0">
              <a:srgbClr val="0A1426">
                <a:alpha val="3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7" name="Shape 5"/>
          <p:cNvSpPr/>
          <p:nvPr/>
        </p:nvSpPr>
        <p:spPr>
          <a:xfrm>
            <a:off x="6190488" y="1868245"/>
            <a:ext cx="5440680" cy="2651760"/>
          </a:xfrm>
          <a:prstGeom prst="roundRect">
            <a:avLst>
              <a:gd name="adj" fmla="val 2069"/>
            </a:avLst>
          </a:prstGeom>
          <a:solidFill>
            <a:srgbClr val="21385C"/>
          </a:solidFill>
          <a:ln w="9525">
            <a:solidFill>
              <a:srgbClr val="33507C"/>
            </a:solidFill>
            <a:prstDash val="solid"/>
          </a:ln>
          <a:effectLst>
            <a:outerShdw blurRad="101600" dist="25400" dir="5400000" algn="bl" rotWithShape="0">
              <a:srgbClr val="0A1426">
                <a:alpha val="3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841248" y="2014549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FC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one breath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86968" y="2453461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produces convincing output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A-OSP records what is actually proven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missing, and whether it may be used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trust boundary moves outside the model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generates · substrate adjudicates · institution decides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64808" y="2014549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FC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read this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510528" y="2453461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document explains; the corpus proves </a:t>
            </a:r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points to where it is defined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is labeled: AS-IS to gated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reading path is the last slide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6928" y="480060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243250"/>
          </a:solidFill>
          <a:ln w="9525">
            <a:solidFill>
              <a:srgbClr val="33507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Shape 11"/>
          <p:cNvSpPr/>
          <p:nvPr/>
        </p:nvSpPr>
        <p:spPr>
          <a:xfrm>
            <a:off x="566928" y="4864608"/>
            <a:ext cx="64008" cy="603504"/>
          </a:xfrm>
          <a:prstGeom prst="rect">
            <a:avLst/>
          </a:prstGeom>
          <a:solidFill>
            <a:srgbClr val="D6A43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877824" y="48920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Ledger of Meaning: a record where every AI-assisted transformation books both sides — what is supported, and what remains owed. Floor = D1 (witnessed); open seam = EQL; gated ceiling = the proof graph / ledger.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6928" y="647395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2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A-OSP · The Ledger of Meaning · posture: main@e492290b · June 2026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4117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2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324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ONE PASS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16952" y="3657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50" dirty="0">
                <a:solidFill>
                  <a:srgbClr val="82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A-OSP IN ONE DIAGRAM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7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A-OSP in one pass.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8932" y="121615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movements, the whole pipeline in a single pass. Every later slide expands one of these steps — read it top to bottom, then the rest is inhabitable.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1868245"/>
            <a:ext cx="5440680" cy="2651760"/>
          </a:xfrm>
          <a:prstGeom prst="roundRect">
            <a:avLst>
              <a:gd name="adj" fmla="val 2069"/>
            </a:avLst>
          </a:prstGeom>
          <a:solidFill>
            <a:srgbClr val="1E3354"/>
          </a:solidFill>
          <a:ln w="9525">
            <a:solidFill>
              <a:srgbClr val="33507C"/>
            </a:solidFill>
            <a:prstDash val="solid"/>
          </a:ln>
          <a:effectLst>
            <a:outerShdw blurRad="101600" dist="25400" dir="5400000" algn="bl" rotWithShape="0">
              <a:srgbClr val="0A1426">
                <a:alpha val="3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7" name="Shape 5"/>
          <p:cNvSpPr/>
          <p:nvPr/>
        </p:nvSpPr>
        <p:spPr>
          <a:xfrm>
            <a:off x="6190488" y="1868245"/>
            <a:ext cx="5440680" cy="2651760"/>
          </a:xfrm>
          <a:prstGeom prst="roundRect">
            <a:avLst>
              <a:gd name="adj" fmla="val 2069"/>
            </a:avLst>
          </a:prstGeom>
          <a:solidFill>
            <a:srgbClr val="21385C"/>
          </a:solidFill>
          <a:ln w="9525">
            <a:solidFill>
              <a:srgbClr val="33507C"/>
            </a:solidFill>
            <a:prstDash val="solid"/>
          </a:ln>
          <a:effectLst>
            <a:outerShdw blurRad="101600" dist="25400" dir="5400000" algn="bl" rotWithShape="0">
              <a:srgbClr val="0A1426">
                <a:alpha val="3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841248" y="2014549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FC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pipeline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86968" y="2453461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output → claim extraction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· scope · gap identified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· readback · hash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state computed under a horizon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use: answer / abstain / escalate / block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64808" y="2014549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FC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510528" y="2453461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is booked, not just written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visible, not hidden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proof is reconstructable later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become projections of a proven graph (gated)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6928" y="480060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243250"/>
          </a:solidFill>
          <a:ln w="9525">
            <a:solidFill>
              <a:srgbClr val="33507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Shape 11"/>
          <p:cNvSpPr/>
          <p:nvPr/>
        </p:nvSpPr>
        <p:spPr>
          <a:xfrm>
            <a:off x="566928" y="4864608"/>
            <a:ext cx="64008" cy="603504"/>
          </a:xfrm>
          <a:prstGeom prst="rect">
            <a:avLst/>
          </a:prstGeom>
          <a:solidFill>
            <a:srgbClr val="D6A43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877824" y="48920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A-OSP in one pass; the rest of the document expands each step. The gated end-state is the ledger, where every transformation books both sides. Model generates · substrate adjudicates · institution decides.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6928" y="647395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2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A-OSP · The Ledger of Meaning · posture: main@e492290b · June 2026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4117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2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324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LAYERS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16952" y="3657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50" dirty="0">
                <a:solidFill>
                  <a:srgbClr val="82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MAP BEFORE THE WORDS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7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layers, one language.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8932" y="121615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A-OSP is four layers; each is proven by its own documents. You need not memorize the acronyms — read them as maturity markers, and follow the bold gold pointers to the document that proves each step.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1868244"/>
            <a:ext cx="5440680" cy="3030431"/>
          </a:xfrm>
          <a:prstGeom prst="roundRect">
            <a:avLst>
              <a:gd name="adj" fmla="val 2069"/>
            </a:avLst>
          </a:prstGeom>
          <a:solidFill>
            <a:srgbClr val="1E3354"/>
          </a:solidFill>
          <a:ln w="9525">
            <a:solidFill>
              <a:srgbClr val="33507C"/>
            </a:solidFill>
            <a:prstDash val="solid"/>
          </a:ln>
          <a:effectLst>
            <a:outerShdw blurRad="101600" dist="25400" dir="5400000" algn="bl" rotWithShape="0">
              <a:srgbClr val="0A1426">
                <a:alpha val="3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7" name="Shape 5"/>
          <p:cNvSpPr/>
          <p:nvPr/>
        </p:nvSpPr>
        <p:spPr>
          <a:xfrm>
            <a:off x="6190488" y="1868244"/>
            <a:ext cx="5440680" cy="3030431"/>
          </a:xfrm>
          <a:prstGeom prst="roundRect">
            <a:avLst>
              <a:gd name="adj" fmla="val 2069"/>
            </a:avLst>
          </a:prstGeom>
          <a:solidFill>
            <a:srgbClr val="21385C"/>
          </a:solidFill>
          <a:ln w="9525">
            <a:solidFill>
              <a:srgbClr val="33507C"/>
            </a:solidFill>
            <a:prstDash val="solid"/>
          </a:ln>
          <a:effectLst>
            <a:outerShdw blurRad="101600" dist="25400" dir="5400000" algn="bl" rotWithShape="0">
              <a:srgbClr val="0A1426">
                <a:alpha val="3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841248" y="2014549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FC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layers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22312" y="2423339"/>
            <a:ext cx="517563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D6A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</a:t>
            </a: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theory of the problem: output as maps, debt, reification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D6A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A-OSP</a:t>
            </a: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runtime: claim, source, receipt, graph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witness — what exists today: D1, tests, evidence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D6A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</a:t>
            </a: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neutrality: the standard outside the vendor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D6A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</a:t>
            </a: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formation: how it becomes an institution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64808" y="2014549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FC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language, in plain words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314171" y="2453461"/>
            <a:ext cx="5190841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— first proof seam: AI output becomes typed, hash-verified atoms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EQL — a proof-aware query: results come back receipt-backed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D5 — the reusable proof graph: proof linked across steps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oracle — the proof reader: it traverses the graph, not prose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6928" y="5320554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243250"/>
          </a:solidFill>
          <a:ln w="9525">
            <a:solidFill>
              <a:srgbClr val="33507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Shape 11"/>
          <p:cNvSpPr/>
          <p:nvPr/>
        </p:nvSpPr>
        <p:spPr>
          <a:xfrm>
            <a:off x="566928" y="5384562"/>
            <a:ext cx="64008" cy="603504"/>
          </a:xfrm>
          <a:prstGeom prst="rect">
            <a:avLst/>
          </a:prstGeom>
          <a:solidFill>
            <a:srgbClr val="D6A43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877824" y="541199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 names the failure mode · A-OSP builds the substrate · CIPM proves the mechanics · TechDD tests the witness · LOA protects neutrality · INP funds formation. Depth in VPB, ECNN, Annexes A–G, Epistemic Debt; reading paths at the close.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6928" y="647395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2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A-OSP · The Ledger of Meaning · posture: main@e492290b · June 2026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4117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2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324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CORPUS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16952" y="3657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50" dirty="0">
                <a:solidFill>
                  <a:srgbClr val="82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POINTER, DECODED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7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corpus, in plain words.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8932" y="121615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gold pointer in this deck routes to one of these. You need not read them all — open the one your question needs. This document is the map.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1868245"/>
            <a:ext cx="5440680" cy="2651760"/>
          </a:xfrm>
          <a:prstGeom prst="roundRect">
            <a:avLst>
              <a:gd name="adj" fmla="val 2069"/>
            </a:avLst>
          </a:prstGeom>
          <a:solidFill>
            <a:srgbClr val="1E3354"/>
          </a:solidFill>
          <a:ln w="9525">
            <a:solidFill>
              <a:srgbClr val="33507C"/>
            </a:solidFill>
            <a:prstDash val="solid"/>
          </a:ln>
          <a:effectLst>
            <a:outerShdw blurRad="101600" dist="25400" dir="5400000" algn="bl" rotWithShape="0">
              <a:srgbClr val="0A1426">
                <a:alpha val="3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7" name="Shape 5"/>
          <p:cNvSpPr/>
          <p:nvPr/>
        </p:nvSpPr>
        <p:spPr>
          <a:xfrm>
            <a:off x="6190488" y="1868245"/>
            <a:ext cx="5440680" cy="2651760"/>
          </a:xfrm>
          <a:prstGeom prst="roundRect">
            <a:avLst>
              <a:gd name="adj" fmla="val 2069"/>
            </a:avLst>
          </a:prstGeom>
          <a:solidFill>
            <a:srgbClr val="21385C"/>
          </a:solidFill>
          <a:ln w="9525">
            <a:solidFill>
              <a:srgbClr val="33507C"/>
            </a:solidFill>
            <a:prstDash val="solid"/>
          </a:ln>
          <a:effectLst>
            <a:outerShdw blurRad="101600" dist="25400" dir="5400000" algn="bl" rotWithShape="0">
              <a:srgbClr val="0A1426">
                <a:alpha val="3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841248" y="2014549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FC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documents you will open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26948" y="2453461"/>
            <a:ext cx="5120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D6A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VPB</a:t>
            </a: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Value Proposition Brief: buyer value, by role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D6A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CIPM</a:t>
            </a: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Core Idea + Proof Mechanics: claim to receipt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D6A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</a:t>
            </a: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Whitepaper: full architecture, runtime, D1–D5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D6A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TechDD</a:t>
            </a: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Technical Due Diligence: evidence, gaps, gates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D6A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</a:t>
            </a: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Data Room: the build, audited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64808" y="2014549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FC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where the rest lives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342399" y="2427101"/>
            <a:ext cx="5182577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D6A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Legal Operating Architecture: the neutral moat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D6A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Investment Pitch: the raise, use of funds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D6A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Reticular Observer Architectures: the theory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foundation — </a:t>
            </a:r>
            <a:r>
              <a:rPr lang="en-US" sz="1600" b="1" dirty="0">
                <a:solidFill>
                  <a:srgbClr val="D6A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Map, Observer Compiler, ECNN /  Annexes, Epistemic Debt</a:t>
            </a:r>
            <a:endParaRPr lang="en-US" sz="1600" b="1" dirty="0">
              <a:solidFill>
                <a:srgbClr val="D6A43E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66928" y="4800599"/>
            <a:ext cx="11064240" cy="1313329"/>
          </a:xfrm>
          <a:prstGeom prst="roundRect">
            <a:avLst>
              <a:gd name="adj" fmla="val 7500"/>
            </a:avLst>
          </a:prstGeom>
          <a:solidFill>
            <a:srgbClr val="243250"/>
          </a:solidFill>
          <a:ln w="9525">
            <a:solidFill>
              <a:srgbClr val="33507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Shape 11"/>
          <p:cNvSpPr/>
          <p:nvPr/>
        </p:nvSpPr>
        <p:spPr>
          <a:xfrm>
            <a:off x="566928" y="4864608"/>
            <a:ext cx="64008" cy="603504"/>
          </a:xfrm>
          <a:prstGeom prst="rect">
            <a:avLst/>
          </a:prstGeom>
          <a:solidFill>
            <a:srgbClr val="D6A43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877824" y="48920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docs are decoded here; the formal backbone (RLA, CRC, ECNN, PCE) is defined in the Annexes — you need its acronyms only to verify the proofs, not to read this deck.</a:t>
            </a:r>
          </a:p>
          <a:p>
            <a:pPr marL="0" indent="0">
              <a:lnSpc>
                <a:spcPct val="104000"/>
              </a:lnSpc>
              <a:buNone/>
            </a:pPr>
            <a:endParaRPr lang="en-US" sz="16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04000"/>
              </a:lnSpc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Corpus: </a:t>
            </a:r>
            <a:r>
              <a:rPr lang="en-US" sz="1600" dirty="0">
                <a:solidFill>
                  <a:schemeClr val="accent1">
                    <a:lumMod val="40000"/>
                    <a:lumOff val="6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https://github.com/Luke883i/ROA</a:t>
            </a:r>
            <a:endParaRPr lang="en-US" sz="1600" dirty="0">
              <a:solidFill>
                <a:schemeClr val="bg1"/>
              </a:solidFill>
            </a:endParaRPr>
          </a:p>
          <a:p>
            <a:pPr marL="0" indent="0">
              <a:lnSpc>
                <a:spcPct val="104000"/>
              </a:lnSpc>
              <a:buNone/>
            </a:pP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6928" y="647395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2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A-OSP · The Ledger of Meaning · posture: main@e492290b · June 2026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4117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2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324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STATUS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16952" y="3657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50" dirty="0">
                <a:solidFill>
                  <a:srgbClr val="82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REAL, WHAT IS GATED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7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floor is real. The ceiling is gated.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8932" y="121615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glance at maturity before the narrative — the anti-overclaim spine. Concretely today: a customer can proof-book compliance intake at D1; everything above is gated. This deck obeys the discipline it sells.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1868245"/>
            <a:ext cx="5440680" cy="2651760"/>
          </a:xfrm>
          <a:prstGeom prst="roundRect">
            <a:avLst>
              <a:gd name="adj" fmla="val 2069"/>
            </a:avLst>
          </a:prstGeom>
          <a:solidFill>
            <a:srgbClr val="1E3354"/>
          </a:solidFill>
          <a:ln w="9525">
            <a:solidFill>
              <a:srgbClr val="33507C"/>
            </a:solidFill>
            <a:prstDash val="solid"/>
          </a:ln>
          <a:effectLst>
            <a:outerShdw blurRad="101600" dist="25400" dir="5400000" algn="bl" rotWithShape="0">
              <a:srgbClr val="0A1426">
                <a:alpha val="3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7" name="Shape 5"/>
          <p:cNvSpPr/>
          <p:nvPr/>
        </p:nvSpPr>
        <p:spPr>
          <a:xfrm>
            <a:off x="6190488" y="1868245"/>
            <a:ext cx="5440680" cy="2651760"/>
          </a:xfrm>
          <a:prstGeom prst="roundRect">
            <a:avLst>
              <a:gd name="adj" fmla="val 2069"/>
            </a:avLst>
          </a:prstGeom>
          <a:solidFill>
            <a:srgbClr val="21385C"/>
          </a:solidFill>
          <a:ln w="9525">
            <a:solidFill>
              <a:srgbClr val="33507C"/>
            </a:solidFill>
            <a:prstDash val="solid"/>
          </a:ln>
          <a:effectLst>
            <a:outerShdw blurRad="101600" dist="25400" dir="5400000" algn="bl" rotWithShape="0">
              <a:srgbClr val="0A1426">
                <a:alpha val="3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841248" y="2014549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FC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Witnessed now / hardening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86968" y="2453461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route + service + receipt — RUNTIME-WIRED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readback barrier — hash-compare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false-green attack tests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witness — 4,686 files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— the first paid schema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64808" y="2014549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FC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seam / gated ceiling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510528" y="2453461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EQLQueryReceipt — OPEN / TARGET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EQL proof route — OPEN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Workstation — TARGET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D5 proof graph / ledger — gated adoption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6928" y="480060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243250"/>
          </a:solidFill>
          <a:ln w="9525">
            <a:solidFill>
              <a:srgbClr val="33507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Shape 11"/>
          <p:cNvSpPr/>
          <p:nvPr/>
        </p:nvSpPr>
        <p:spPr>
          <a:xfrm>
            <a:off x="566928" y="4864608"/>
            <a:ext cx="64008" cy="603504"/>
          </a:xfrm>
          <a:prstGeom prst="rect">
            <a:avLst/>
          </a:prstGeom>
          <a:solidFill>
            <a:srgbClr val="D6A43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877824" y="48920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buys closure from the D1 witness and EQL open seam to a repeatable proof substrate — not an existing ledger. Snapshot @ main e492290b; regenerate before circulation. </a:t>
            </a:r>
            <a:r>
              <a:rPr lang="en-US" sz="1600" b="1" dirty="0">
                <a:solidFill>
                  <a:srgbClr val="D6A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INP (Investment Pitch)</a:t>
            </a:r>
            <a:endParaRPr lang="en-US" sz="1600" dirty="0">
              <a:solidFill>
                <a:srgbClr val="D6A43E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566928" y="647395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2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A-OSP · The Ledger of Meaning · posture: main@e492290b · June 2026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4117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2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324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BY ROLE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16952" y="3657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50" dirty="0">
                <a:solidFill>
                  <a:srgbClr val="82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READERS, FIVE CHECKS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7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by role.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8932" y="121615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spine, different verification paths. Each role has a likely question; here is where it is answered — the proofs live in the corpus, cited on every slide.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1868245"/>
            <a:ext cx="5440680" cy="2651760"/>
          </a:xfrm>
          <a:prstGeom prst="roundRect">
            <a:avLst>
              <a:gd name="adj" fmla="val 2069"/>
            </a:avLst>
          </a:prstGeom>
          <a:solidFill>
            <a:srgbClr val="1E3354"/>
          </a:solidFill>
          <a:ln w="9525">
            <a:solidFill>
              <a:srgbClr val="33507C"/>
            </a:solidFill>
            <a:prstDash val="solid"/>
          </a:ln>
          <a:effectLst>
            <a:outerShdw blurRad="101600" dist="25400" dir="5400000" algn="bl" rotWithShape="0">
              <a:srgbClr val="0A1426">
                <a:alpha val="3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7" name="Shape 5"/>
          <p:cNvSpPr/>
          <p:nvPr/>
        </p:nvSpPr>
        <p:spPr>
          <a:xfrm>
            <a:off x="6190488" y="1868245"/>
            <a:ext cx="5440680" cy="2651760"/>
          </a:xfrm>
          <a:prstGeom prst="roundRect">
            <a:avLst>
              <a:gd name="adj" fmla="val 2069"/>
            </a:avLst>
          </a:prstGeom>
          <a:solidFill>
            <a:srgbClr val="21385C"/>
          </a:solidFill>
          <a:ln w="9525">
            <a:solidFill>
              <a:srgbClr val="33507C"/>
            </a:solidFill>
            <a:prstDash val="solid"/>
          </a:ln>
          <a:effectLst>
            <a:outerShdw blurRad="101600" dist="25400" dir="5400000" algn="bl" rotWithShape="0">
              <a:srgbClr val="0A1426">
                <a:alpha val="3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841248" y="2014549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FC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likely question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86968" y="2453461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— "RAG with extra steps?"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— "vision without runtime"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 — "AI-washing"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 — "hand-waving, no formalism"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— "just another document editor"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64808" y="2014549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FC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is answered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510528" y="2453461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typed proof graph, not a vector blob → M.VI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witnessed D1 floor, gated ceiling → Status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false-green is forbidden by construction → M.IV, M.V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definitions </a:t>
            </a:r>
            <a:r>
              <a:rPr lang="en-US" sz="1600" b="1" dirty="0">
                <a:solidFill>
                  <a:srgbClr val="D6A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ECNN, Annexes A–G, Epistemic Debt</a:t>
            </a:r>
            <a:endParaRPr lang="en-US" sz="1600" dirty="0">
              <a:solidFill>
                <a:srgbClr val="D6A43E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66928" y="480060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243250"/>
          </a:solidFill>
          <a:ln w="9525">
            <a:solidFill>
              <a:srgbClr val="33507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Shape 11"/>
          <p:cNvSpPr/>
          <p:nvPr/>
        </p:nvSpPr>
        <p:spPr>
          <a:xfrm>
            <a:off x="566928" y="4864608"/>
            <a:ext cx="64008" cy="603504"/>
          </a:xfrm>
          <a:prstGeom prst="rect">
            <a:avLst/>
          </a:prstGeom>
          <a:solidFill>
            <a:srgbClr val="D6A43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877824" y="48920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document, multiple reading paths — same spine, different verification paths. If a claim feels too strong for your discipline, follow its bold gold pointer and check the proof yourself.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6928" y="647395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2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A-OSP · The Ledger of Meaning · posture: main@e492290b · June 2026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4117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2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324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MOVEMENT I · THE 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16952" y="3657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50" dirty="0">
                <a:solidFill>
                  <a:srgbClr val="82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OUTPUT LEAVES SOMETHING OUT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7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books the asset; A-OSP books the edge.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8932" y="121615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AI-assisted output is a projection: it preserves some distinctions, collapses others, and may turn gaps into fluent prose. The first task is to make the loss visible.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1868245"/>
            <a:ext cx="5440680" cy="2651760"/>
          </a:xfrm>
          <a:prstGeom prst="roundRect">
            <a:avLst>
              <a:gd name="adj" fmla="val 2069"/>
            </a:avLst>
          </a:prstGeom>
          <a:solidFill>
            <a:srgbClr val="1E3354"/>
          </a:solidFill>
          <a:ln w="9525">
            <a:solidFill>
              <a:srgbClr val="33507C"/>
            </a:solidFill>
            <a:prstDash val="solid"/>
          </a:ln>
          <a:effectLst>
            <a:outerShdw blurRad="101600" dist="25400" dir="5400000" algn="bl" rotWithShape="0">
              <a:srgbClr val="0A1426">
                <a:alpha val="3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7" name="Shape 5"/>
          <p:cNvSpPr/>
          <p:nvPr/>
        </p:nvSpPr>
        <p:spPr>
          <a:xfrm>
            <a:off x="6190488" y="1868245"/>
            <a:ext cx="5440680" cy="2651760"/>
          </a:xfrm>
          <a:prstGeom prst="roundRect">
            <a:avLst>
              <a:gd name="adj" fmla="val 2069"/>
            </a:avLst>
          </a:prstGeom>
          <a:solidFill>
            <a:srgbClr val="21385C"/>
          </a:solidFill>
          <a:ln w="9525">
            <a:solidFill>
              <a:srgbClr val="33507C"/>
            </a:solidFill>
            <a:prstDash val="solid"/>
          </a:ln>
          <a:effectLst>
            <a:outerShdw blurRad="101600" dist="25400" dir="5400000" algn="bl" rotWithShape="0">
              <a:srgbClr val="0A1426">
                <a:alpha val="3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841248" y="2014549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FC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asset, booked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86968" y="2453461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/ summary / report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fragments preserved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 wording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attention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product enters circulation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64808" y="2014549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FC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liability, unbooked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510528" y="2453461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omissions and gaps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unsupported inference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drift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not done — epistemic debt accruing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6928" y="4800600"/>
            <a:ext cx="11064240" cy="980090"/>
          </a:xfrm>
          <a:prstGeom prst="roundRect">
            <a:avLst>
              <a:gd name="adj" fmla="val 7500"/>
            </a:avLst>
          </a:prstGeom>
          <a:solidFill>
            <a:srgbClr val="243250"/>
          </a:solidFill>
          <a:ln w="9525">
            <a:solidFill>
              <a:srgbClr val="33507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Shape 11"/>
          <p:cNvSpPr/>
          <p:nvPr/>
        </p:nvSpPr>
        <p:spPr>
          <a:xfrm>
            <a:off x="566928" y="4864608"/>
            <a:ext cx="64008" cy="603504"/>
          </a:xfrm>
          <a:prstGeom prst="rect">
            <a:avLst/>
          </a:prstGeom>
          <a:solidFill>
            <a:srgbClr val="D6A43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877824" y="4892040"/>
            <a:ext cx="1075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failure is not only hallucination — it is 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unreconstructable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institutional work: the map arrives without a legend, and the institution later pays to reconstruct the edge. </a:t>
            </a:r>
            <a:r>
              <a:rPr lang="en-US" sz="1600" b="1" dirty="0">
                <a:solidFill>
                  <a:srgbClr val="D6A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Every Map;  ROA (Reticular Observer Architectures for Governable AI-Assisted Work)</a:t>
            </a:r>
            <a:endParaRPr lang="en-US" sz="1600" dirty="0">
              <a:solidFill>
                <a:srgbClr val="D6A43E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566928" y="647395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2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A-OSP · The Ledger of Meaning · posture: main@e492290b · June 2026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4117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2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324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MOVEMENT II · THE THING ITSELF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16952" y="3657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50" dirty="0">
                <a:solidFill>
                  <a:srgbClr val="82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A-OSP 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7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local Proof Operating Environment.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8932" y="121615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chatbot. Not a GRC dashboard. Not a certification engine. We do not open the black box — we move the truth outside it and protect the views the models produce.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1868245"/>
            <a:ext cx="5440680" cy="2651760"/>
          </a:xfrm>
          <a:prstGeom prst="roundRect">
            <a:avLst>
              <a:gd name="adj" fmla="val 2069"/>
            </a:avLst>
          </a:prstGeom>
          <a:solidFill>
            <a:srgbClr val="1E3354"/>
          </a:solidFill>
          <a:ln w="9525">
            <a:solidFill>
              <a:srgbClr val="33507C"/>
            </a:solidFill>
            <a:prstDash val="solid"/>
          </a:ln>
          <a:effectLst>
            <a:outerShdw blurRad="101600" dist="25400" dir="5400000" algn="bl" rotWithShape="0">
              <a:srgbClr val="0A1426">
                <a:alpha val="3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7" name="Shape 5"/>
          <p:cNvSpPr/>
          <p:nvPr/>
        </p:nvSpPr>
        <p:spPr>
          <a:xfrm>
            <a:off x="6190488" y="1868245"/>
            <a:ext cx="5440680" cy="2651760"/>
          </a:xfrm>
          <a:prstGeom prst="roundRect">
            <a:avLst>
              <a:gd name="adj" fmla="val 2069"/>
            </a:avLst>
          </a:prstGeom>
          <a:solidFill>
            <a:srgbClr val="21385C"/>
          </a:solidFill>
          <a:ln w="9525">
            <a:solidFill>
              <a:srgbClr val="33507C"/>
            </a:solidFill>
            <a:prstDash val="solid"/>
          </a:ln>
          <a:effectLst>
            <a:outerShdw blurRad="101600" dist="25400" dir="5400000" algn="bl" rotWithShape="0">
              <a:srgbClr val="0A1426">
                <a:alpha val="3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841248" y="2014549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FC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minimum inspectable proof object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86968" y="2453461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· scope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· gap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· readback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state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64808" y="2014549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FC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returns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510528" y="2453461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answer, abstain, escalate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expose epistemic debt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only with receipt, readback, hash, scope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 stays local; the model is replaceable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6928" y="480060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243250"/>
          </a:solidFill>
          <a:ln w="9525">
            <a:solidFill>
              <a:srgbClr val="33507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Shape 11"/>
          <p:cNvSpPr/>
          <p:nvPr/>
        </p:nvSpPr>
        <p:spPr>
          <a:xfrm>
            <a:off x="566928" y="4864608"/>
            <a:ext cx="64008" cy="603504"/>
          </a:xfrm>
          <a:prstGeom prst="rect">
            <a:avLst/>
          </a:prstGeom>
          <a:solidFill>
            <a:srgbClr val="D6A43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877824" y="48920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moves the trust boundary outside the model; the asset is the proof state behind the document, not the document. It runs locally in the browser — no integration required. </a:t>
            </a:r>
            <a:r>
              <a:rPr lang="en-US" sz="1600" b="1" dirty="0">
                <a:solidFill>
                  <a:srgbClr val="D6A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WP (A-OSP Whitepaper); CIPM (Core Idea Proof Mechanics Brief)</a:t>
            </a:r>
            <a:endParaRPr lang="en-US" sz="1600" dirty="0">
              <a:solidFill>
                <a:srgbClr val="D6A43E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566928" y="647395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2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A-OSP · The Ledger of Meaning · posture: main@e492290b · June 2026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4117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2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324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MOVEMENT III · THE CLAIM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16952" y="3657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50" dirty="0">
                <a:solidFill>
                  <a:srgbClr val="82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CLAIM, FULLY BOOKED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7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concrete seam before the formal move.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8932" y="121615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minimal compliance sentence becomes a chain of inspectable objects. A-OSP replaces document → verdict with claim → atom → gap → receipt → artifact.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1868245"/>
            <a:ext cx="5440680" cy="2651760"/>
          </a:xfrm>
          <a:prstGeom prst="roundRect">
            <a:avLst>
              <a:gd name="adj" fmla="val 2069"/>
            </a:avLst>
          </a:prstGeom>
          <a:solidFill>
            <a:srgbClr val="1E3354"/>
          </a:solidFill>
          <a:ln w="9525">
            <a:solidFill>
              <a:srgbClr val="33507C"/>
            </a:solidFill>
            <a:prstDash val="solid"/>
          </a:ln>
          <a:effectLst>
            <a:outerShdw blurRad="101600" dist="25400" dir="5400000" algn="bl" rotWithShape="0">
              <a:srgbClr val="0A1426">
                <a:alpha val="3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7" name="Shape 5"/>
          <p:cNvSpPr/>
          <p:nvPr/>
        </p:nvSpPr>
        <p:spPr>
          <a:xfrm>
            <a:off x="6190488" y="1868245"/>
            <a:ext cx="5440680" cy="2651760"/>
          </a:xfrm>
          <a:prstGeom prst="roundRect">
            <a:avLst>
              <a:gd name="adj" fmla="val 2069"/>
            </a:avLst>
          </a:prstGeom>
          <a:solidFill>
            <a:srgbClr val="21385C"/>
          </a:solidFill>
          <a:ln w="9525">
            <a:solidFill>
              <a:srgbClr val="33507C"/>
            </a:solidFill>
            <a:prstDash val="solid"/>
          </a:ln>
          <a:effectLst>
            <a:outerShdw blurRad="101600" dist="25400" dir="5400000" algn="bl" rotWithShape="0">
              <a:srgbClr val="0A1426">
                <a:alpha val="3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841248" y="2014549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FC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→ objects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86968" y="2453461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Sentence: Payments over €10k require CFO approval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atom_: control_exists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atom_: no exception procedure found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link_: gap weakens reliability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kernel_: partially governed control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64808" y="2014549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FC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→ use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510528" y="2453461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receipt_: persisted / read back / hash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supported: CFO threshold exists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exceptions unproven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usable: draft memo · blocked: authoritative conclusion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6928" y="480060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243250"/>
          </a:solidFill>
          <a:ln w="9525">
            <a:solidFill>
              <a:srgbClr val="33507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Shape 11"/>
          <p:cNvSpPr/>
          <p:nvPr/>
        </p:nvSpPr>
        <p:spPr>
          <a:xfrm>
            <a:off x="566928" y="4864608"/>
            <a:ext cx="64008" cy="603504"/>
          </a:xfrm>
          <a:prstGeom prst="rect">
            <a:avLst/>
          </a:prstGeom>
          <a:solidFill>
            <a:srgbClr val="D6A43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877824" y="48920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ledger logic in miniature: every claim carries both the supported asset and the remaining liability. Local correction fixes the object, not the whole report. </a:t>
            </a:r>
            <a:r>
              <a:rPr lang="en-US" sz="1600" b="1" dirty="0">
                <a:solidFill>
                  <a:srgbClr val="D6A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CIPM (Core Idea Proof Mechanics Brief)</a:t>
            </a:r>
            <a:endParaRPr lang="en-US" sz="1600" dirty="0">
              <a:solidFill>
                <a:srgbClr val="D6A43E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566928" y="647395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2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A-OSP · The Ledger of Meaning · posture: main@e492290b · June 2026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4117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2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324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MOVEMENT IV · THE MECHANISM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16952" y="3657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50" dirty="0">
                <a:solidFill>
                  <a:srgbClr val="82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MECHANICS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7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is a chain, not a badge.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8932" y="121615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transition is green only when it persists, reads back, compares, emits a receipt and defines downstream eligibility. The D1 seam is materially witnessed today; proof-grade closure remains gated.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1868245"/>
            <a:ext cx="5440680" cy="2651760"/>
          </a:xfrm>
          <a:prstGeom prst="roundRect">
            <a:avLst>
              <a:gd name="adj" fmla="val 2069"/>
            </a:avLst>
          </a:prstGeom>
          <a:solidFill>
            <a:srgbClr val="1E3354"/>
          </a:solidFill>
          <a:ln w="9525">
            <a:solidFill>
              <a:srgbClr val="33507C"/>
            </a:solidFill>
            <a:prstDash val="solid"/>
          </a:ln>
          <a:effectLst>
            <a:outerShdw blurRad="101600" dist="25400" dir="5400000" algn="bl" rotWithShape="0">
              <a:srgbClr val="0A1426">
                <a:alpha val="3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7" name="Shape 5"/>
          <p:cNvSpPr/>
          <p:nvPr/>
        </p:nvSpPr>
        <p:spPr>
          <a:xfrm>
            <a:off x="6190488" y="1868245"/>
            <a:ext cx="5440680" cy="2651760"/>
          </a:xfrm>
          <a:prstGeom prst="roundRect">
            <a:avLst>
              <a:gd name="adj" fmla="val 2069"/>
            </a:avLst>
          </a:prstGeom>
          <a:solidFill>
            <a:srgbClr val="21385C"/>
          </a:solidFill>
          <a:ln w="9525">
            <a:solidFill>
              <a:srgbClr val="33507C"/>
            </a:solidFill>
            <a:prstDash val="solid"/>
          </a:ln>
          <a:effectLst>
            <a:outerShdw blurRad="101600" dist="25400" dir="5400000" algn="bl" rotWithShape="0">
              <a:srgbClr val="0A1426">
                <a:alpha val="3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841248" y="2014549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FC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Forbidden equivalences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86968" y="2453461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 output ≠ proof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≠ evidence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≠ receipt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green ≠ proof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≠ witness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64808" y="2014549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FC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 gates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510528" y="2453461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d1_receipt_pass_rate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readback_success_rate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generic_append_to_proof = 0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gate: no PASS without receipt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6928" y="480060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243250"/>
          </a:solidFill>
          <a:ln w="9525">
            <a:solidFill>
              <a:srgbClr val="33507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Shape 11"/>
          <p:cNvSpPr/>
          <p:nvPr/>
        </p:nvSpPr>
        <p:spPr>
          <a:xfrm>
            <a:off x="566928" y="4864608"/>
            <a:ext cx="64008" cy="603504"/>
          </a:xfrm>
          <a:prstGeom prst="rect">
            <a:avLst/>
          </a:prstGeom>
          <a:solidFill>
            <a:srgbClr val="D6A43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877824" y="48920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D1 live path is wired on main: route → validate → canonical stripes → readback hash-compare → receipt → context. Fail-closed: storage down → 503; tampered atom → FAIL. </a:t>
            </a:r>
            <a:r>
              <a:rPr lang="en-US" sz="1600" b="1" dirty="0">
                <a:solidFill>
                  <a:srgbClr val="D6A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TechDD (Technical Due Diligence)</a:t>
            </a:r>
            <a:endParaRPr lang="en-US" sz="1600" dirty="0">
              <a:solidFill>
                <a:srgbClr val="D6A43E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566928" y="647395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2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A-OSP · The Ledger of Meaning · posture: main@e492290b · June 2026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4117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2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324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MOVEMENT V · THE FORMAL MOVE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16952" y="3657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50" dirty="0">
                <a:solidFill>
                  <a:srgbClr val="82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COMPUTATIONAL SEMANTICS → VALUE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7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Meaning becomes a governable state.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8932" y="121615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semantics, summarily: in the spirit of Gödel and Rice, whether an arbitrary claim is true is undecidable in general. So A-OSP does not decide truth — it computes whether a claim is usable under declared sources, scope, transformations, receipts and review rules.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1868245"/>
            <a:ext cx="5440680" cy="2651760"/>
          </a:xfrm>
          <a:prstGeom prst="roundRect">
            <a:avLst>
              <a:gd name="adj" fmla="val 2069"/>
            </a:avLst>
          </a:prstGeom>
          <a:solidFill>
            <a:srgbClr val="1E3354"/>
          </a:solidFill>
          <a:ln w="9525">
            <a:solidFill>
              <a:srgbClr val="33507C"/>
            </a:solidFill>
            <a:prstDash val="solid"/>
          </a:ln>
          <a:effectLst>
            <a:outerShdw blurRad="101600" dist="25400" dir="5400000" algn="bl" rotWithShape="0">
              <a:srgbClr val="0A1426">
                <a:alpha val="3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7" name="Shape 5"/>
          <p:cNvSpPr/>
          <p:nvPr/>
        </p:nvSpPr>
        <p:spPr>
          <a:xfrm>
            <a:off x="6190488" y="1868245"/>
            <a:ext cx="5440680" cy="2651760"/>
          </a:xfrm>
          <a:prstGeom prst="roundRect">
            <a:avLst>
              <a:gd name="adj" fmla="val 2069"/>
            </a:avLst>
          </a:prstGeom>
          <a:solidFill>
            <a:srgbClr val="21385C"/>
          </a:solidFill>
          <a:ln w="9525">
            <a:solidFill>
              <a:srgbClr val="33507C"/>
            </a:solidFill>
            <a:prstDash val="solid"/>
          </a:ln>
          <a:effectLst>
            <a:outerShdw blurRad="101600" dist="25400" dir="5400000" algn="bl" rotWithShape="0">
              <a:srgbClr val="0A1426">
                <a:alpha val="3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841248" y="2014549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FC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horizon object  H = (S, Σ, T, R, M, V)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86968" y="2453461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— typed admitted sources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— declared scope / perimeter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— admissible transformations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— receipts · readback · hash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— support / contradiction · V — false-green guard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64808" y="2014549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FC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Computed state  ⟦c⟧ₕ →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510528" y="2453461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· unsupported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 · out-of-scope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review-required · blocking-debt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waived only by logged authority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6928" y="4800600"/>
            <a:ext cx="11064240" cy="725245"/>
          </a:xfrm>
          <a:prstGeom prst="roundRect">
            <a:avLst>
              <a:gd name="adj" fmla="val 7500"/>
            </a:avLst>
          </a:prstGeom>
          <a:solidFill>
            <a:srgbClr val="243250"/>
          </a:solidFill>
          <a:ln w="9525">
            <a:solidFill>
              <a:srgbClr val="33507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Shape 11"/>
          <p:cNvSpPr/>
          <p:nvPr/>
        </p:nvSpPr>
        <p:spPr>
          <a:xfrm>
            <a:off x="566928" y="4864608"/>
            <a:ext cx="64008" cy="603504"/>
          </a:xfrm>
          <a:prstGeom prst="rect">
            <a:avLst/>
          </a:prstGeom>
          <a:solidFill>
            <a:srgbClr val="D6A43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877824" y="48920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point is not metaphysical truth (undecidable) but operational usability (decidable under H): answer, abstain, escalate or block. Formal definitions in ECNN; Annexes A–G; Epistemic Debt. </a:t>
            </a:r>
            <a:r>
              <a:rPr lang="en-US" sz="1600" b="1" dirty="0">
                <a:solidFill>
                  <a:srgbClr val="D6A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ROA</a:t>
            </a:r>
            <a:endParaRPr lang="en-US" sz="1600" dirty="0">
              <a:solidFill>
                <a:srgbClr val="D6A43E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566928" y="647395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2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A-OSP · The Ledger of Meaning · posture: main@e492290b · June 2026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4117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2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324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MOVEMENT VI · THE READING KEY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16952" y="3657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50" dirty="0">
                <a:solidFill>
                  <a:srgbClr val="82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ARCHITECTURE · ROA PRINCIPLE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7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navigable semantic lattice, not a text blob.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8932" y="121615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powerful key: the A-OSP proof reader (the governed oracle in ROA) — retrieval included — does not process prose. It traverses a typed semantic graph: nodes are proof objects, edges are semantic and provenance relations, and higher-abstraction graphs orient attention.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1868245"/>
            <a:ext cx="5440680" cy="2651760"/>
          </a:xfrm>
          <a:prstGeom prst="roundRect">
            <a:avLst>
              <a:gd name="adj" fmla="val 2069"/>
            </a:avLst>
          </a:prstGeom>
          <a:solidFill>
            <a:srgbClr val="1E3354"/>
          </a:solidFill>
          <a:ln w="9525">
            <a:solidFill>
              <a:srgbClr val="33507C"/>
            </a:solidFill>
            <a:prstDash val="solid"/>
          </a:ln>
          <a:effectLst>
            <a:outerShdw blurRad="101600" dist="25400" dir="5400000" algn="bl" rotWithShape="0">
              <a:srgbClr val="0A1426">
                <a:alpha val="3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7" name="Shape 5"/>
          <p:cNvSpPr/>
          <p:nvPr/>
        </p:nvSpPr>
        <p:spPr>
          <a:xfrm>
            <a:off x="6190488" y="1868245"/>
            <a:ext cx="5440680" cy="2651760"/>
          </a:xfrm>
          <a:prstGeom prst="roundRect">
            <a:avLst>
              <a:gd name="adj" fmla="val 2069"/>
            </a:avLst>
          </a:prstGeom>
          <a:solidFill>
            <a:srgbClr val="21385C"/>
          </a:solidFill>
          <a:ln w="9525">
            <a:solidFill>
              <a:srgbClr val="33507C"/>
            </a:solidFill>
            <a:prstDash val="solid"/>
          </a:ln>
          <a:effectLst>
            <a:outerShdw blurRad="101600" dist="25400" dir="5400000" algn="bl" rotWithShape="0">
              <a:srgbClr val="0A1426">
                <a:alpha val="3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841248" y="2014549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FC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oracle traverses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86968" y="2453461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— typed objects: source, derived, reified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— semantic relations and provenance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 graphs — higher-order views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oriented to the roots of the question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follows provenance; it does not regenerate text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64808" y="2014549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FC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is powerful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510528" y="2453461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efficient — to the root, not the prose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is inspectable and reconstructable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abstains when the lattice cannot support a verdict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over a proof graph, not RAG over a vector blob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6928" y="4800600"/>
            <a:ext cx="11064240" cy="1043152"/>
          </a:xfrm>
          <a:prstGeom prst="roundRect">
            <a:avLst>
              <a:gd name="adj" fmla="val 7500"/>
            </a:avLst>
          </a:prstGeom>
          <a:solidFill>
            <a:srgbClr val="243250"/>
          </a:solidFill>
          <a:ln w="9525">
            <a:solidFill>
              <a:srgbClr val="33507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Shape 11"/>
          <p:cNvSpPr/>
          <p:nvPr/>
        </p:nvSpPr>
        <p:spPr>
          <a:xfrm>
            <a:off x="566928" y="4864608"/>
            <a:ext cx="64008" cy="603504"/>
          </a:xfrm>
          <a:prstGeom prst="rect">
            <a:avLst/>
          </a:prstGeom>
          <a:solidFill>
            <a:srgbClr val="D6A43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877824" y="48920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Maturity: target architecture, a ROA principle — the AS-IS witness today is the D1 receipt, readback and hash; the unified EQL route and D5 graph are open. The lattice is the views the models produced, reached through abstraction. </a:t>
            </a:r>
            <a:r>
              <a:rPr lang="en-US" sz="1600" b="1" dirty="0">
                <a:solidFill>
                  <a:srgbClr val="D6A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ROA; AI as Observer Compiler; ECNN.</a:t>
            </a:r>
            <a:endParaRPr lang="en-US" sz="1600" dirty="0">
              <a:solidFill>
                <a:srgbClr val="D6A43E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566928" y="647395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2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A-OSP · The Ledger of Meaning · posture: main@e492290b · June 2026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4117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2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324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MOVEMENT VII · ROLES AND SOVEREIGNTY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16952" y="3657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50" dirty="0">
                <a:solidFill>
                  <a:srgbClr val="82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OBSERVERS · ONE TRUSTED ORACLE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7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local observers; one sovereign oracle.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8932" y="121615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LLM roles, deliberately separated. Any model provider is welcome as a bounded local observer; only the single proof reader (the governed oracle) — which reads the whole source of truth — must be local or EU-sovereign-trusted.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1868245"/>
            <a:ext cx="5440680" cy="2651760"/>
          </a:xfrm>
          <a:prstGeom prst="roundRect">
            <a:avLst>
              <a:gd name="adj" fmla="val 2069"/>
            </a:avLst>
          </a:prstGeom>
          <a:solidFill>
            <a:srgbClr val="1E3354"/>
          </a:solidFill>
          <a:ln w="9525">
            <a:solidFill>
              <a:srgbClr val="33507C"/>
            </a:solidFill>
            <a:prstDash val="solid"/>
          </a:ln>
          <a:effectLst>
            <a:outerShdw blurRad="101600" dist="25400" dir="5400000" algn="bl" rotWithShape="0">
              <a:srgbClr val="0A1426">
                <a:alpha val="3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7" name="Shape 5"/>
          <p:cNvSpPr/>
          <p:nvPr/>
        </p:nvSpPr>
        <p:spPr>
          <a:xfrm>
            <a:off x="6190488" y="1868245"/>
            <a:ext cx="5440680" cy="2651760"/>
          </a:xfrm>
          <a:prstGeom prst="roundRect">
            <a:avLst>
              <a:gd name="adj" fmla="val 2069"/>
            </a:avLst>
          </a:prstGeom>
          <a:solidFill>
            <a:srgbClr val="21385C"/>
          </a:solidFill>
          <a:ln w="9525">
            <a:solidFill>
              <a:srgbClr val="33507C"/>
            </a:solidFill>
            <a:prstDash val="solid"/>
          </a:ln>
          <a:effectLst>
            <a:outerShdw blurRad="101600" dist="25400" dir="5400000" algn="bl" rotWithShape="0">
              <a:srgbClr val="0A1426">
                <a:alpha val="3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841248" y="2014549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FC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observer — per call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86968" y="2453461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+ A + FAE profile (tells the model what to extract)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 → typed output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A-OSP deterministic sanitization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validation of atoms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call may be a different provider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64808" y="2014549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FC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triad — read this once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510528" y="2453461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= stateless processor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= reconstructable index (+ RBAC)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 = typed local records + receipts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reader = trusted local traversal (EU-sovereign)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6928" y="4800600"/>
            <a:ext cx="11064240" cy="1053662"/>
          </a:xfrm>
          <a:prstGeom prst="roundRect">
            <a:avLst>
              <a:gd name="adj" fmla="val 7500"/>
            </a:avLst>
          </a:prstGeom>
          <a:solidFill>
            <a:srgbClr val="243250"/>
          </a:solidFill>
          <a:ln w="9525">
            <a:solidFill>
              <a:srgbClr val="33507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Shape 11"/>
          <p:cNvSpPr/>
          <p:nvPr/>
        </p:nvSpPr>
        <p:spPr>
          <a:xfrm>
            <a:off x="566928" y="4864608"/>
            <a:ext cx="64008" cy="603504"/>
          </a:xfrm>
          <a:prstGeom prst="rect">
            <a:avLst/>
          </a:prstGeom>
          <a:solidFill>
            <a:srgbClr val="D6A43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877824" y="48920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≠ memory · DB ≠ truth · Provider ≠ authority. Observers can be any provider because they are bounded and sanitized; the proof reader cannot, because it sees everything — avoid uncontrolled foreign-jurisdiction exposure. </a:t>
            </a:r>
            <a:r>
              <a:rPr lang="en-US" sz="1600" b="1" dirty="0">
                <a:solidFill>
                  <a:srgbClr val="D6A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WP (control plane); CIPM (FAE); LOA (jurisdiction and EU-first sovereignty).</a:t>
            </a:r>
            <a:endParaRPr lang="en-US" sz="1600" dirty="0">
              <a:solidFill>
                <a:srgbClr val="D6A43E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566928" y="647395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2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A-OSP · The Ledger of Meaning · posture: main@e492290b · June 2026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4117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2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324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MOVEMENT VIII · THE RECEIPT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16952" y="3657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50" dirty="0">
                <a:solidFill>
                  <a:srgbClr val="82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REPOSITORY IS THE WITNESS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7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Realization, not slideware.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8932" y="121615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repository is not hidden chaos — it is a control plane. Real scale, classified hardening debt, repo-governed AI development. Witness, not certificate.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1868245"/>
            <a:ext cx="5440680" cy="2651760"/>
          </a:xfrm>
          <a:prstGeom prst="roundRect">
            <a:avLst>
              <a:gd name="adj" fmla="val 2069"/>
            </a:avLst>
          </a:prstGeom>
          <a:solidFill>
            <a:srgbClr val="1E3354"/>
          </a:solidFill>
          <a:ln w="9525">
            <a:solidFill>
              <a:srgbClr val="33507C"/>
            </a:solidFill>
            <a:prstDash val="solid"/>
          </a:ln>
          <a:effectLst>
            <a:outerShdw blurRad="101600" dist="25400" dir="5400000" algn="bl" rotWithShape="0">
              <a:srgbClr val="0A1426">
                <a:alpha val="3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7" name="Shape 5"/>
          <p:cNvSpPr/>
          <p:nvPr/>
        </p:nvSpPr>
        <p:spPr>
          <a:xfrm>
            <a:off x="6190488" y="1868245"/>
            <a:ext cx="5440680" cy="2651760"/>
          </a:xfrm>
          <a:prstGeom prst="roundRect">
            <a:avLst>
              <a:gd name="adj" fmla="val 2069"/>
            </a:avLst>
          </a:prstGeom>
          <a:solidFill>
            <a:srgbClr val="21385C"/>
          </a:solidFill>
          <a:ln w="9525">
            <a:solidFill>
              <a:srgbClr val="33507C"/>
            </a:solidFill>
            <a:prstDash val="solid"/>
          </a:ln>
          <a:effectLst>
            <a:outerShdw blurRad="101600" dist="25400" dir="5400000" algn="bl" rotWithShape="0">
              <a:srgbClr val="0A1426">
                <a:alpha val="3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841248" y="2014549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FC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project scale (main@e492290b)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86968" y="2453461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4,686 repository files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2,598 code files · 7,557 graph nodes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16,304 edges · 11,583 imports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4,848 functions / classes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305 audit findings → 32 actions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64808" y="2014549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FC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— wired and tested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510528" y="2453461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route + service + receipt: RUNTIME-WIRED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readback barrier with hash-compare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false-green attack vectors tested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EQL receipt: primary open seam (TARGET)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6928" y="4800599"/>
            <a:ext cx="11064240" cy="1085193"/>
          </a:xfrm>
          <a:prstGeom prst="roundRect">
            <a:avLst>
              <a:gd name="adj" fmla="val 7500"/>
            </a:avLst>
          </a:prstGeom>
          <a:solidFill>
            <a:srgbClr val="243250"/>
          </a:solidFill>
          <a:ln w="9525">
            <a:solidFill>
              <a:srgbClr val="33507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Shape 11"/>
          <p:cNvSpPr/>
          <p:nvPr/>
        </p:nvSpPr>
        <p:spPr>
          <a:xfrm>
            <a:off x="566928" y="4864608"/>
            <a:ext cx="64008" cy="603504"/>
          </a:xfrm>
          <a:prstGeom prst="rect">
            <a:avLst/>
          </a:prstGeom>
          <a:solidFill>
            <a:srgbClr val="D6A43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877824" y="48920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shows surface area; proof comes from receipts, guards, false-green tests and the Authority Matrix that classifies every file (source-of-truth, generated, advisory, archaeological). Witness, not certificate. </a:t>
            </a:r>
            <a:r>
              <a:rPr lang="en-US" sz="1600" b="1" dirty="0">
                <a:solidFill>
                  <a:srgbClr val="D6A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TechDD; DR (A-OSP Repo Data Room); WP Part V.</a:t>
            </a:r>
            <a:endParaRPr lang="en-US" sz="1600" dirty="0">
              <a:solidFill>
                <a:srgbClr val="D6A43E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566928" y="647395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2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A-OSP · The Ledger of Meaning · posture: main@e492290b · June 2026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4117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2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324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MOVEMENT IX · THE METHOD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16952" y="3657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50" dirty="0">
                <a:solidFill>
                  <a:srgbClr val="82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FRAMEWORK, APPLIED TO ITSELF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7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method was applied to its own build.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8932" y="121615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A-OSP was built by the discipline A-OSP describes: governed AI agents, typed validated artefacts, semantic CI/CD applied to the development itself.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1868245"/>
            <a:ext cx="5440680" cy="2651760"/>
          </a:xfrm>
          <a:prstGeom prst="roundRect">
            <a:avLst>
              <a:gd name="adj" fmla="val 2069"/>
            </a:avLst>
          </a:prstGeom>
          <a:solidFill>
            <a:srgbClr val="1E3354"/>
          </a:solidFill>
          <a:ln w="9525">
            <a:solidFill>
              <a:srgbClr val="33507C"/>
            </a:solidFill>
            <a:prstDash val="solid"/>
          </a:ln>
          <a:effectLst>
            <a:outerShdw blurRad="101600" dist="25400" dir="5400000" algn="bl" rotWithShape="0">
              <a:srgbClr val="0A1426">
                <a:alpha val="3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7" name="Shape 5"/>
          <p:cNvSpPr/>
          <p:nvPr/>
        </p:nvSpPr>
        <p:spPr>
          <a:xfrm>
            <a:off x="6190488" y="1868245"/>
            <a:ext cx="5440680" cy="2651760"/>
          </a:xfrm>
          <a:prstGeom prst="roundRect">
            <a:avLst>
              <a:gd name="adj" fmla="val 2069"/>
            </a:avLst>
          </a:prstGeom>
          <a:solidFill>
            <a:srgbClr val="21385C"/>
          </a:solidFill>
          <a:ln w="9525">
            <a:solidFill>
              <a:srgbClr val="33507C"/>
            </a:solidFill>
            <a:prstDash val="solid"/>
          </a:ln>
          <a:effectLst>
            <a:outerShdw blurRad="101600" dist="25400" dir="5400000" algn="bl" rotWithShape="0">
              <a:srgbClr val="0A1426">
                <a:alpha val="3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841248" y="2014549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FC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observer-compiler pipeline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86968" y="2453461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intent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into blueprints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vs principles and forbidden equivalences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as an agent issue-chain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bodies with DoD, metrics, checklists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64808" y="2014549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FC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Guarded lifecycle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510528" y="2453461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↔ PR = bounded epistemic transaction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machine-readable checklist · guarded build, E2E, security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report → advisory classification → gate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review: merge, revert or block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6928" y="480060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243250"/>
          </a:solidFill>
          <a:ln w="9525">
            <a:solidFill>
              <a:srgbClr val="33507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Shape 11"/>
          <p:cNvSpPr/>
          <p:nvPr/>
        </p:nvSpPr>
        <p:spPr>
          <a:xfrm>
            <a:off x="566928" y="4864608"/>
            <a:ext cx="64008" cy="603504"/>
          </a:xfrm>
          <a:prstGeom prst="rect">
            <a:avLst/>
          </a:prstGeom>
          <a:solidFill>
            <a:srgbClr val="D6A43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877824" y="48920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is the corpus pattern in miniature — a candidate that review and audit close into a validated artefact. The discipline was applied to the build before it was described</a:t>
            </a:r>
            <a:r>
              <a:rPr lang="en-US" sz="1600" dirty="0">
                <a:solidFill>
                  <a:srgbClr val="D6A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600" b="1" dirty="0">
                <a:solidFill>
                  <a:srgbClr val="D6A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ROA; WP §20.</a:t>
            </a:r>
            <a:endParaRPr lang="en-US" sz="1600" dirty="0">
              <a:solidFill>
                <a:srgbClr val="D6A43E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566928" y="647395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2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A-OSP · The Ledger of Meaning · posture: main@e492290b · June 2026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4117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2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324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MOVEMENT X · SEAM TO WORKSTATION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16952" y="3657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50" dirty="0">
                <a:solidFill>
                  <a:srgbClr val="82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 → D5 · THE PRODUCT SURFACE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7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rung adds value; D5 is the workstation.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8932" y="121615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D1→D5 is a value ladder: each rung makes the proof state do more work. At D5 the proof graph is what the browser-native workstation projects — documents become projections of a proven graph.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1868245"/>
            <a:ext cx="5440680" cy="2651760"/>
          </a:xfrm>
          <a:prstGeom prst="roundRect">
            <a:avLst>
              <a:gd name="adj" fmla="val 2069"/>
            </a:avLst>
          </a:prstGeom>
          <a:solidFill>
            <a:srgbClr val="1E3354"/>
          </a:solidFill>
          <a:ln w="9525">
            <a:solidFill>
              <a:srgbClr val="33507C"/>
            </a:solidFill>
            <a:prstDash val="solid"/>
          </a:ln>
          <a:effectLst>
            <a:outerShdw blurRad="101600" dist="25400" dir="5400000" algn="bl" rotWithShape="0">
              <a:srgbClr val="0A1426">
                <a:alpha val="3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7" name="Shape 5"/>
          <p:cNvSpPr/>
          <p:nvPr/>
        </p:nvSpPr>
        <p:spPr>
          <a:xfrm>
            <a:off x="6190488" y="1868245"/>
            <a:ext cx="5440680" cy="2651760"/>
          </a:xfrm>
          <a:prstGeom prst="roundRect">
            <a:avLst>
              <a:gd name="adj" fmla="val 2069"/>
            </a:avLst>
          </a:prstGeom>
          <a:solidFill>
            <a:srgbClr val="21385C"/>
          </a:solidFill>
          <a:ln w="9525">
            <a:solidFill>
              <a:srgbClr val="33507C"/>
            </a:solidFill>
            <a:prstDash val="solid"/>
          </a:ln>
          <a:effectLst>
            <a:outerShdw blurRad="101600" dist="25400" dir="5400000" algn="bl" rotWithShape="0">
              <a:srgbClr val="0A1426">
                <a:alpha val="3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841248" y="2014549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FC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value ladder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86968" y="2453461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reconstructs · D2 repeats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 links · D4 composes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D5 — proof graph: state becomes reusable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compounds up the ladder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value: cognitive compression, not speed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64808" y="2014549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FC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 surface (browser-native)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510528" y="2453461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— sections carry status, not prose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· gap · review-required, visible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· UNIVERSAL · AT CREATION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preserves the witness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6928" y="4800600"/>
            <a:ext cx="11064240" cy="1064172"/>
          </a:xfrm>
          <a:prstGeom prst="roundRect">
            <a:avLst>
              <a:gd name="adj" fmla="val 7500"/>
            </a:avLst>
          </a:prstGeom>
          <a:solidFill>
            <a:srgbClr val="243250"/>
          </a:solidFill>
          <a:ln w="9525">
            <a:solidFill>
              <a:srgbClr val="33507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Shape 11"/>
          <p:cNvSpPr/>
          <p:nvPr/>
        </p:nvSpPr>
        <p:spPr>
          <a:xfrm>
            <a:off x="566928" y="4864608"/>
            <a:ext cx="64008" cy="603504"/>
          </a:xfrm>
          <a:prstGeom prst="rect">
            <a:avLst/>
          </a:prstGeom>
          <a:solidFill>
            <a:srgbClr val="D6A43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877824" y="48920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Maturity: D1 is witnessed today; D5 and the Artifact Workstation are TARGET. Word writes documents; A-OSP projects proof state into documents — the market buys reconstructability, reuse and the end of document archaeology. </a:t>
            </a:r>
            <a:r>
              <a:rPr lang="en-US" sz="1600" b="1" dirty="0">
                <a:solidFill>
                  <a:srgbClr val="D6A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TechDD; WP; CIPM.</a:t>
            </a:r>
            <a:endParaRPr lang="en-US" sz="1600" dirty="0">
              <a:solidFill>
                <a:srgbClr val="D6A43E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566928" y="647395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2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A-OSP · The Ledger of Meaning · posture: main@e492290b · June 2026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4117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2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324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MOVEMENT XI · THE LEDGER, EARNED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16952" y="3657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50" dirty="0">
                <a:solidFill>
                  <a:srgbClr val="82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DOUBLE-ENTRY FOR MEANING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7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graph can become ledger-like.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234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transformations book both asset and liability, the proof graph can become ledger-like. The graph is the canonical proof surface under a declared horizon — not truth. This is a gated vision, earned only after proof states are computable.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2011680"/>
            <a:ext cx="5440680" cy="2514600"/>
          </a:xfrm>
          <a:prstGeom prst="roundRect">
            <a:avLst>
              <a:gd name="adj" fmla="val 2182"/>
            </a:avLst>
          </a:prstGeom>
          <a:solidFill>
            <a:srgbClr val="21385C"/>
          </a:solidFill>
          <a:ln w="9525">
            <a:solidFill>
              <a:srgbClr val="33507C"/>
            </a:solidFill>
            <a:prstDash val="solid"/>
          </a:ln>
          <a:effectLst>
            <a:outerShdw blurRad="101600" dist="25400" dir="5400000" algn="bl" rotWithShape="0">
              <a:srgbClr val="0A1426">
                <a:alpha val="3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822960" y="212140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50" dirty="0">
                <a:solidFill>
                  <a:srgbClr val="3FC4D2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DOUBLE-ENTRY, APPLIED TO MEANING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487168"/>
            <a:ext cx="4983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— what is conserved and proven: source, scope, receipt, readback, validation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liability — what is lost or unjustified: gap, unvalidated inference, epistemic debt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transformation books both sides; the proof graph is the ledger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90488" y="2011680"/>
            <a:ext cx="5440680" cy="2514600"/>
          </a:xfrm>
          <a:prstGeom prst="roundRect">
            <a:avLst>
              <a:gd name="adj" fmla="val 2182"/>
            </a:avLst>
          </a:prstGeom>
          <a:solidFill>
            <a:srgbClr val="1E3354"/>
          </a:solidFill>
          <a:ln w="9525">
            <a:solidFill>
              <a:srgbClr val="33507C"/>
            </a:solidFill>
            <a:prstDash val="solid"/>
          </a:ln>
          <a:effectLst>
            <a:outerShdw blurRad="101600" dist="25400" dir="5400000" algn="bl" rotWithShape="0">
              <a:srgbClr val="0A1426">
                <a:alpha val="3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6446520" y="212140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50" dirty="0">
                <a:solidFill>
                  <a:srgbClr val="D6A43E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ONE SUBSTRATE, MANY REGISTERS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24871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— GDPR · NIS2 · DORA · EU AI Act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213848" y="2523744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5FD08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10213848" y="252374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AS-IS wedge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46520" y="28620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/ audit assurance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213848" y="289864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3E5C8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6" name="Text 14"/>
          <p:cNvSpPr/>
          <p:nvPr/>
        </p:nvSpPr>
        <p:spPr>
          <a:xfrm>
            <a:off x="10213848" y="28986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OPTION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46520" y="323697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/ CSRD reporting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213848" y="3273552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3E5C8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9" name="Text 17"/>
          <p:cNvSpPr/>
          <p:nvPr/>
        </p:nvSpPr>
        <p:spPr>
          <a:xfrm>
            <a:off x="10213848" y="32735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OPTION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46520" y="36118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chain-of-custody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213848" y="3648456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3E5C8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2" name="Text 20"/>
          <p:cNvSpPr/>
          <p:nvPr/>
        </p:nvSpPr>
        <p:spPr>
          <a:xfrm>
            <a:off x="10213848" y="36484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OPTION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46520" y="398678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provenance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0213848" y="402336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3E5C8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5" name="Text 23"/>
          <p:cNvSpPr/>
          <p:nvPr/>
        </p:nvSpPr>
        <p:spPr>
          <a:xfrm>
            <a:off x="10213848" y="4023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OPTION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6928" y="4689638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243250"/>
          </a:solidFill>
          <a:ln w="9525">
            <a:solidFill>
              <a:srgbClr val="33507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7" name="Shape 25"/>
          <p:cNvSpPr/>
          <p:nvPr/>
        </p:nvSpPr>
        <p:spPr>
          <a:xfrm>
            <a:off x="566928" y="4753646"/>
            <a:ext cx="64008" cy="512064"/>
          </a:xfrm>
          <a:prstGeom prst="rect">
            <a:avLst/>
          </a:prstGeom>
          <a:solidFill>
            <a:srgbClr val="D6A43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8" name="Text 26"/>
          <p:cNvSpPr/>
          <p:nvPr/>
        </p:nvSpPr>
        <p:spPr>
          <a:xfrm>
            <a:off x="877824" y="478107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gates are passed the registers could expand, and the comparison could shift from GRC tools toward systems of record. A lens, gated — not a claim, not a roadmap.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66928" y="5486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is the first schema, not the last. Long-range option, gated: the ledger of meaning could sit beneath the numbers an ERP records.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566928" y="647395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2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A-OSP · The Ledger of Meaning · posture: main@e492290b · June 2026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891272" y="6473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6A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in: CIPM (proof mechanics) · INP A14</a:t>
            </a:r>
            <a:endParaRPr lang="en-US" sz="1400" b="1" dirty="0">
              <a:solidFill>
                <a:srgbClr val="D6A43E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114117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2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324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MOVEMENT XII · THE MOAT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16952" y="3657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50" dirty="0">
                <a:solidFill>
                  <a:srgbClr val="82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MIRRORS EPISTEMIC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7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legal mirrors the epistemic architecture.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8932" y="121615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must sit outside the vendor for the same reason truth sits outside the model. The moat is neutrality, and the LOA encodes it.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1868245"/>
            <a:ext cx="5440680" cy="2651760"/>
          </a:xfrm>
          <a:prstGeom prst="roundRect">
            <a:avLst>
              <a:gd name="adj" fmla="val 2069"/>
            </a:avLst>
          </a:prstGeom>
          <a:solidFill>
            <a:srgbClr val="1E3354"/>
          </a:solidFill>
          <a:ln w="9525">
            <a:solidFill>
              <a:srgbClr val="33507C"/>
            </a:solidFill>
            <a:prstDash val="solid"/>
          </a:ln>
          <a:effectLst>
            <a:outerShdw blurRad="101600" dist="25400" dir="5400000" algn="bl" rotWithShape="0">
              <a:srgbClr val="0A1426">
                <a:alpha val="3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7" name="Shape 5"/>
          <p:cNvSpPr/>
          <p:nvPr/>
        </p:nvSpPr>
        <p:spPr>
          <a:xfrm>
            <a:off x="6190488" y="1868245"/>
            <a:ext cx="5440680" cy="2651760"/>
          </a:xfrm>
          <a:prstGeom prst="roundRect">
            <a:avLst>
              <a:gd name="adj" fmla="val 2069"/>
            </a:avLst>
          </a:prstGeom>
          <a:solidFill>
            <a:srgbClr val="21385C"/>
          </a:solidFill>
          <a:ln w="9525">
            <a:solidFill>
              <a:srgbClr val="33507C"/>
            </a:solidFill>
            <a:prstDash val="solid"/>
          </a:ln>
          <a:effectLst>
            <a:outerShdw blurRad="101600" dist="25400" dir="5400000" algn="bl" rotWithShape="0">
              <a:srgbClr val="0A1426">
                <a:alpha val="3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841248" y="2014549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FC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moat (by design)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86968" y="2453461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are copyable; neutrality is not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provider proof feature is self-contradictory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core amplifies — adoption earns the standard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asset-based switching cost: customer owns the graph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incumbents are structurally disincentivized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64808" y="2014549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FC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legal mirror — LOA (target structure)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510528" y="2453461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OpCo — runtime, modules, commercial IP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— spec, conformance mark, validator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 conditional, non-controlling, mission-locked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≠ memory · DB ≠ truth · Provider ≠ authority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6928" y="4800599"/>
            <a:ext cx="11064240" cy="1148255"/>
          </a:xfrm>
          <a:prstGeom prst="roundRect">
            <a:avLst>
              <a:gd name="adj" fmla="val 7500"/>
            </a:avLst>
          </a:prstGeom>
          <a:solidFill>
            <a:srgbClr val="243250"/>
          </a:solidFill>
          <a:ln w="9525">
            <a:solidFill>
              <a:srgbClr val="33507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Shape 11"/>
          <p:cNvSpPr/>
          <p:nvPr/>
        </p:nvSpPr>
        <p:spPr>
          <a:xfrm>
            <a:off x="566928" y="4864608"/>
            <a:ext cx="64008" cy="603504"/>
          </a:xfrm>
          <a:prstGeom prst="rect">
            <a:avLst/>
          </a:prstGeom>
          <a:solidFill>
            <a:srgbClr val="D6A43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877824" y="48920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vendor can copy features; it cannot credibly certify itself as the neutral proof authority — so the standard sits outside the vendor, as truth sits outside the model. EU-first deployment; sovereignty is architectural before geopolitical. </a:t>
            </a:r>
            <a:r>
              <a:rPr lang="en-US" sz="1600" b="1" dirty="0">
                <a:solidFill>
                  <a:srgbClr val="D6A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LOA (Legal Operating Architecture Target)</a:t>
            </a:r>
            <a:endParaRPr lang="en-US" sz="1600" dirty="0">
              <a:solidFill>
                <a:srgbClr val="D6A43E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566928" y="647395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2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A-OSP · The Ledger of Meaning · posture: main@e492290b · June 2026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4117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2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324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MOVEMENT XIII · FORMATION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16952" y="3657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50" dirty="0">
                <a:solidFill>
                  <a:srgbClr val="82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FUNDED · WHAT TO READ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7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 — and what to read next.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8932" y="121615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round buys closure, team-operability and first paid proof diagnostics — not a finished standard. Equity funds OpCo execution; foundation governance protects standard credibility. Detail and price live in INP.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1868245"/>
            <a:ext cx="5440680" cy="2651760"/>
          </a:xfrm>
          <a:prstGeom prst="roundRect">
            <a:avLst>
              <a:gd name="adj" fmla="val 2069"/>
            </a:avLst>
          </a:prstGeom>
          <a:solidFill>
            <a:srgbClr val="1E3354"/>
          </a:solidFill>
          <a:ln w="9525">
            <a:solidFill>
              <a:srgbClr val="33507C"/>
            </a:solidFill>
            <a:prstDash val="solid"/>
          </a:ln>
          <a:effectLst>
            <a:outerShdw blurRad="101600" dist="25400" dir="5400000" algn="bl" rotWithShape="0">
              <a:srgbClr val="0A1426">
                <a:alpha val="3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7" name="Shape 5"/>
          <p:cNvSpPr/>
          <p:nvPr/>
        </p:nvSpPr>
        <p:spPr>
          <a:xfrm>
            <a:off x="6190488" y="1868245"/>
            <a:ext cx="5440680" cy="2651760"/>
          </a:xfrm>
          <a:prstGeom prst="roundRect">
            <a:avLst>
              <a:gd name="adj" fmla="val 2069"/>
            </a:avLst>
          </a:prstGeom>
          <a:solidFill>
            <a:srgbClr val="21385C"/>
          </a:solidFill>
          <a:ln w="9525">
            <a:solidFill>
              <a:srgbClr val="33507C"/>
            </a:solidFill>
            <a:prstDash val="solid"/>
          </a:ln>
          <a:effectLst>
            <a:outerShdw blurRad="101600" dist="25400" dir="5400000" algn="bl" rotWithShape="0">
              <a:srgbClr val="0A1426">
                <a:alpha val="3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841248" y="2014549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FC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round funds (gated)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86968" y="2453461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+ engineering core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+ EQL proof-seam closure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founder-operated witness to team-operable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paid diagnostics · workstation alpha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E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/ P1 controls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64808" y="2014549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FC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next, by audience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510528" y="2453461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</a:t>
            </a:r>
            <a:r>
              <a:rPr lang="en-US" sz="1600" b="1" dirty="0">
                <a:solidFill>
                  <a:srgbClr val="D6A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INP</a:t>
            </a:r>
            <a:endParaRPr lang="en-US" sz="1600" dirty="0">
              <a:solidFill>
                <a:srgbClr val="D6A43E"/>
              </a:solidFill>
            </a:endParaRPr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/ engineer </a:t>
            </a:r>
            <a:r>
              <a:rPr lang="en-US" sz="1600" b="1" dirty="0">
                <a:solidFill>
                  <a:srgbClr val="D6A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WP + TechDD + DR</a:t>
            </a:r>
            <a:endParaRPr lang="en-US" sz="1600" dirty="0">
              <a:solidFill>
                <a:srgbClr val="D6A43E"/>
              </a:solidFill>
            </a:endParaRPr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</a:t>
            </a:r>
            <a:r>
              <a:rPr lang="en-US" sz="1600" b="1" dirty="0">
                <a:solidFill>
                  <a:srgbClr val="D6A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CIPM + VPB</a:t>
            </a:r>
            <a:endParaRPr lang="en-US" sz="1600" dirty="0">
              <a:solidFill>
                <a:srgbClr val="D6A43E"/>
              </a:solidFill>
            </a:endParaRPr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 </a:t>
            </a:r>
            <a:r>
              <a:rPr lang="en-US" sz="1600" b="1" dirty="0">
                <a:solidFill>
                  <a:srgbClr val="D6A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LOA</a:t>
            </a:r>
            <a:r>
              <a:rPr lang="en-US" sz="1600" dirty="0">
                <a:solidFill>
                  <a:srgbClr val="D6A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</a:t>
            </a:r>
            <a:r>
              <a:rPr lang="en-US" sz="1600" b="1" dirty="0">
                <a:solidFill>
                  <a:srgbClr val="D6A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ROA + Every Map</a:t>
            </a:r>
            <a:endParaRPr lang="en-US" sz="1600" dirty="0">
              <a:solidFill>
                <a:srgbClr val="D6A43E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66928" y="480060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243250"/>
          </a:solidFill>
          <a:ln w="9525">
            <a:solidFill>
              <a:srgbClr val="33507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Shape 11"/>
          <p:cNvSpPr/>
          <p:nvPr/>
        </p:nvSpPr>
        <p:spPr>
          <a:xfrm>
            <a:off x="566928" y="4864608"/>
            <a:ext cx="64008" cy="603504"/>
          </a:xfrm>
          <a:prstGeom prst="rect">
            <a:avLst/>
          </a:prstGeom>
          <a:solidFill>
            <a:srgbClr val="D6A43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877824" y="48920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 not claim: a global standard, production or legal certification, a complete proof spine, or a ledger today. Model generates · substrate adjudicates · institution decides.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6928" y="647395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2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A-OSP · The Ledger of Meaning · posture: main@e492290b · June 2026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4117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2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</TotalTime>
  <Words>3707</Words>
  <Application>Microsoft Office PowerPoint</Application>
  <PresentationFormat>Personalizzato</PresentationFormat>
  <Paragraphs>372</Paragraphs>
  <Slides>21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21</vt:i4>
      </vt:variant>
    </vt:vector>
  </HeadingPairs>
  <TitlesOfParts>
    <vt:vector size="25" baseType="lpstr">
      <vt:lpstr>Arial</vt:lpstr>
      <vt:lpstr>Calibri</vt:lpstr>
      <vt:lpstr>Consolas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A-OSP — The Ledger of Meaning</dc:title>
  <dc:subject>The Ledger of Meaning — Document 0 entrypoint</dc:subject>
  <dc:creator>Gianluca Conte</dc:creator>
  <cp:lastModifiedBy>Gianluca Conte</cp:lastModifiedBy>
  <cp:revision>52</cp:revision>
  <dcterms:created xsi:type="dcterms:W3CDTF">2026-06-20T12:47:54Z</dcterms:created>
  <dcterms:modified xsi:type="dcterms:W3CDTF">2026-06-24T14:57:09Z</dcterms:modified>
</cp:coreProperties>
</file>